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731520" y="1463040"/>
            <a:ext cx="10698480" cy="2194560"/>
          </a:xfrm>
          <a:prstGeom prst="rect">
            <a:avLst/>
          </a:prstGeom>
          <a:noFill/>
        </p:spPr>
        <p:txBody>
          <a:bodyPr wrap="none">
            <a:spAutoFit/>
          </a:bodyPr>
          <a:lstStyle/>
          <a:p>
            <a:pPr>
              <a:defRPr sz="4200" b="1">
                <a:solidFill>
                  <a:srgbClr val="F5F7FA"/>
                </a:solidFill>
              </a:defRPr>
            </a:pPr>
            <a:r>
              <a:t>FastSheets</a:t>
            </a:r>
            <a:br/>
            <a:r>
              <a:t>Platform Guide</a:t>
            </a:r>
          </a:p>
          <a:p>
            <a:pPr>
              <a:defRPr sz="1800">
                <a:solidFill>
                  <a:srgbClr val="F97316"/>
                </a:solidFill>
              </a:defRPr>
            </a:pPr>
            <a:r>
              <a:t>2026-08-19  •  https://sheets.fastsme.com</a:t>
            </a:r>
          </a:p>
        </p:txBody>
      </p:sp>
      <p:sp>
        <p:nvSpPr>
          <p:cNvPr id="3" name="TextBox 2"/>
          <p:cNvSpPr txBox="1"/>
          <p:nvPr/>
        </p:nvSpPr>
        <p:spPr>
          <a:xfrm>
            <a:off x="731520" y="4206240"/>
            <a:ext cx="10241280" cy="1188720"/>
          </a:xfrm>
          <a:prstGeom prst="rect">
            <a:avLst/>
          </a:prstGeom>
          <a:noFill/>
        </p:spPr>
        <p:txBody>
          <a:bodyPr wrap="none">
            <a:spAutoFit/>
          </a:bodyPr>
          <a:lstStyle/>
          <a:p>
            <a:pPr>
              <a:defRPr sz="1600">
                <a:solidFill>
                  <a:srgbClr val="B1BCCC"/>
                </a:solidFill>
              </a:defRPr>
            </a:pPr>
            <a:r>
              <a:t>**FastSheets** is an open-source **spreadsheet** built with — a server-side, HTMX-driven port of the core of . Python-first, no JavaScript framework: an **editable grid with a real formula engine** (`SUM`/`AVERAGE`/`MIN`/`MAX`/`COUNT`/`PRODUCT`, cell refs, arithmetic, percentages), multiple sheets, and an AI assistant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Model the business without losing control of the model.</a:t>
            </a:r>
          </a:p>
        </p:txBody>
      </p:sp>
      <p:pic>
        <p:nvPicPr>
          <p:cNvPr id="3" name="Picture 2" descr="01-model-the-business-without-losing-control-of-the.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SPREADSHEETS Model the business without losing control of the model. Build computed workbooks with a safe formula engine, structured formatting, and AI-assisted analysis. Sign In or Register Explore the open-source suite → Product tour · see the workspace in a</a:t>
            </a:r>
          </a:p>
          <a:p>
            <a:pPr>
              <a:defRPr sz="900">
                <a:solidFill>
                  <a:srgbClr val="F97316"/>
                </a:solidFill>
              </a:defRPr>
            </a:pPr>
            <a:r>
              <a:t>https://sheets.fastsme.com/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Build with the FastSheets API.</a:t>
            </a:r>
          </a:p>
        </p:txBody>
      </p:sp>
      <p:pic>
        <p:nvPicPr>
          <p:cNvPr id="3" name="Picture 2" descr="02-build-with-the-fastsheets-api.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FastSheets Developers Back to product DEVELOPER PLATFORM · API V1 Build with the FastSheets API. Read the live demo database through a typed, versioned API. Selected integration writes are implemented behind bearer-token authentication. Open Swagger UI Open Re</a:t>
            </a:r>
          </a:p>
          <a:p>
            <a:pPr>
              <a:defRPr sz="900">
                <a:solidFill>
                  <a:srgbClr val="F97316"/>
                </a:solidFill>
              </a:defRPr>
            </a:pPr>
            <a:r>
              <a:t>https://sheets.fastsme.com/developers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Sign in</a:t>
            </a:r>
          </a:p>
        </p:txBody>
      </p:sp>
      <p:pic>
        <p:nvPicPr>
          <p:cNvPr id="3" name="Picture 2" descr="03-sign-in.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Sign in with Google Sign in to continue to fastsme.com Email or phone Forgot email? Next Create account Afrikaans azərbaycan bosanski català Čeština Cymraeg Dansk Deutsch eesti English (United Kingdom) English (United States) Español (España) Español (Latinoam</a:t>
            </a:r>
          </a:p>
          <a:p>
            <a:pPr>
              <a:defRPr sz="900">
                <a:solidFill>
                  <a:srgbClr val="F97316"/>
                </a:solidFill>
              </a:defRPr>
            </a:pPr>
            <a:r>
              <a:t>https://accounts.google.com/v3/signin/identifier?opparams=%253F&amp;dsh=S-1088195801%3A1787122849874786&amp;access_type=online&amp;client_id=887059023987-2a7spj1m82eivobdbt1itb3cqca6tpt1.apps.googleusercontent.com&amp;o2v=2&amp;prompt=select_account&amp;redirect_uri=https%3A%2F%2Fsheets.fastsme.com%2Fauth%2Fgoogle%2Fcallback&amp;response_type=code&amp;scope=openid+email+profile&amp;service=lso&amp;state=qGqgODMXvWZjPQ7tPtbAUt6AhJ7LrbFjl3EBcSHCtYA&amp;flowName=GeneralOAuthLite&amp;continue=https%3A%2F%2Faccounts.google.com%2Fsignin%2Foauth%2Flegacy%2Fconsent%3Fauthuser%3Dunknown%26part%3DAJi8hAPmdr0S3P5NkJ8TKblwhlg236jTVWZQTX7EaxC-9vgmI-OoaP_48fBNdbOB-57prki3VkfSWalebM0X-CbK654SWurlPs5gfCW8SCO_sWs_Tv_RNK24_Sl83fOoaaxER1Yi3qBk31QZk3UwTQV1-9k_67R-xzU8CilyNJkwAvxcOjqik1wu6wgC0MTPqs182J7k0UsXA13E-PgjWWIxAMaufwVjO-AbJme4IonEKZB_rDYCXTPcMDvQDVLyJrzQouYs4nOQni0Z7DjlYIGcmwMExeb44_yfs2P_3yEHI6GgCpOcIbIjCSqY7YmflKo167V4ABs4glvBhyRm7moioi1DCBnFUk0CVbHLC6yBrfZQItFgmXUnpBsvGugL8rlQYDmqS1Zos9H236SDIKgAddXtykR6yaRu3aEPDInJTxciEThYv1hvm6yYSMjY0-SFg0F_giv9rlNMUD11EZBpHldTKwdQZaJWL02ahQlAmQcGKb59J4Q%26flowName%3DGeneralOAuthFlow%26as%3DS-1088195801%253A1787122849874786%26client_id%3D887059023987-2a7spj1m82eivobdbt1itb3cqca6tpt1.apps.googleusercontent.com%23&amp;app_domain=https%3A%2F%2Fsheets.fastsme.com&amp;rart=ANgoxcf34_f9AUnFuRtPR8Fz6phrQbF9-QTau3JkWt6KiOZ08ZcrpA3APh96LFTbdHGIczosgVBioVpgZZUXAenABonRbHIOa3-Rp6mzQyGwIOyLg-xR0GQ</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